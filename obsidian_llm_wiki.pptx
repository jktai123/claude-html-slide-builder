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200" b="1">
                <a:solidFill>
                  <a:srgbClr val="FFD700"/>
                </a:solidFill>
                <a:latin typeface="Arial"/>
              </a:defRPr>
            </a:pPr>
            <a:r>
              <a:t>LLM Wiki 與 Obsidian 實戰指南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從零打造 AI 協同的個人與企業知識網絡</a:t>
            </a:r>
          </a:p>
          <a:p>
            <a:pPr>
              <a:spcAft>
                <a:spcPts val="1000"/>
              </a:spcAft>
              <a:defRPr sz="2200" b="0">
                <a:solidFill>
                  <a:srgbClr val="FFFFFF"/>
                </a:solidFill>
                <a:latin typeface="Arial"/>
              </a:defRPr>
            </a:pPr>
            <a:r>
              <a:t>導讀整理：Antigravity AI 助理</a:t>
            </a:r>
          </a:p>
        </p:txBody>
      </p:sp>
      <p:sp>
        <p:nvSpPr>
          <p:cNvPr id="4" name="Right Triangle 3"/>
          <p:cNvSpPr/>
          <p:nvPr/>
        </p:nvSpPr>
        <p:spPr>
          <a:xfrm rot="10800000">
            <a:off x="9601200" y="4297680"/>
            <a:ext cx="2590495" cy="2560320"/>
          </a:xfrm>
          <a:prstGeom prst="rtTriangl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一、Obsidian 基礎與 Markdown 排版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534095" cy="27432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800" b="1">
                <a:solidFill>
                  <a:srgbClr val="FFD700"/>
                </a:solidFill>
                <a:latin typeface="Arial"/>
              </a:defRPr>
            </a:pPr>
            <a:r>
              <a:t>一、Obsidian 基礎與 Markdown 排版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如何使用這款強大的雙向連結筆記軟體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Obsidian 常用 Markdown 語法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標題層級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使用不同數量的 # 字號建立大、中、小標題，結構分明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201168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68135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6735" y="21488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樣式字元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6735" y="265176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文字兩側單星號 *斜體*，雙星號 **粗體**，凸顯重點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區塊引言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在句子開頭加上大於符號 &gt; 建立漂亮的引用與注釋框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39535" y="4160520"/>
            <a:ext cx="4937760" cy="1874519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8135" y="438912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6735" y="42976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清單與線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6735" y="4800600"/>
            <a:ext cx="420624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開頭減號 - 建立項目清單，連續三個減號 --- 建立分隔線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筆記屬性面板 (Frontmatter)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6583680" cy="4389120"/>
          </a:xfrm>
          <a:prstGeom prst="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60350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在筆記最上方輸入三個橫線 --- 啟動屬性面板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可用於記錄人物、事件的元數據 (如出生年、逝世年等表格)</a:t>
            </a:r>
          </a:p>
          <a:p>
            <a:pPr>
              <a:spcAft>
                <a:spcPts val="120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摺疊屬性面板可以讓筆記編輯畫面更加清爽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00400" cy="438912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3291840"/>
            <a:ext cx="2834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Arial"/>
              </a:defRPr>
            </a:pPr>
            <a:r>
              <a:t>圖表：屬性面板 YAML 元數據結構</a:t>
            </a:r>
          </a:p>
        </p:txBody>
      </p:sp>
      <p:sp>
        <p:nvSpPr>
          <p:cNvPr id="8" name="Diamond 7"/>
          <p:cNvSpPr/>
          <p:nvPr/>
        </p:nvSpPr>
        <p:spPr>
          <a:xfrm>
            <a:off x="9372600" y="2377440"/>
            <a:ext cx="548640" cy="548640"/>
          </a:xfrm>
          <a:prstGeom prst="diamond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二、雙向連結與知識網絡建構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534095" cy="27432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800" b="1">
                <a:solidFill>
                  <a:srgbClr val="FFD700"/>
                </a:solidFill>
                <a:latin typeface="Arial"/>
              </a:defRPr>
            </a:pPr>
            <a:r>
              <a:t>二、雙向連結與知識網絡建構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Obsidian 最核心的「第二大腦」雙向關係鏈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雙向連結的三種實踐方式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手動插入連結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24688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在內文連續輸入兩個左方括號 `[[` 選擇欲連結的頁面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011680"/>
            <a:ext cx="320040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1488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反白文字升級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651760"/>
            <a:ext cx="24688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反白已有文字後直接輸入 `[[` 自動轉為對應雙向連結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0040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1488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建立未來頁面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51760"/>
            <a:ext cx="24688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可以直接連結尚未建立的頁面，點擊時會自動產生筆記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反向連結與未連結提及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438912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39535" y="1645920"/>
            <a:ext cx="4937760" cy="438912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4389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反向連結 (Backlinks)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自動顯示有哪些頁面連入當前筆記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方便在不同主題間穿梭導覽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無需手動設定即可追蹤參考來源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3855" y="1920240"/>
            <a:ext cx="4389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未連結但提及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自動偵測文本中出現但未超連結的關鍵字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提供一鍵升級功能，快速將文字轉為連結</a:t>
            </a:r>
          </a:p>
          <a:p>
            <a:pPr>
              <a:spcAft>
                <a:spcPts val="8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大幅省去人工比對與設定的力氣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三、引進 LLM Wiki 新思維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534095" cy="27432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800" b="1">
                <a:solidFill>
                  <a:srgbClr val="FFD700"/>
                </a:solidFill>
                <a:latin typeface="Arial"/>
              </a:defRPr>
            </a:pPr>
            <a:r>
              <a:t>三、引進 LLM Wiki 新思維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Andrej Karpathy 提出的 AI 協同知識庫概念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手動知識庫 vs LLM Wiki 知識庫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628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比較項目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手動維護知識庫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LLM Wiki (AI 協同)</a:t>
                      </a:r>
                    </a:p>
                  </a:txBody>
                  <a:tcPr>
                    <a:solidFill>
                      <a:srgbClr val="FFD70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用戶角色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撰寫、排版、手動拉連結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只需提供原始素材 (如 PDF/文章)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AI 職責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無或僅輔助寫作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閱讀、寫入知識庫、拉雙向連結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目錄與日誌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手動更新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AI 自動更新目錄與日誌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維護成本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隨時間成倍增加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極低，由 AI 自動排程維護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LLM Wiki 四大資料結構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316403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195064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史料 (Sources): 存放原始 PDF、網頁抓取文章等素材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76523" y="3840480"/>
            <a:ext cx="274320" cy="2286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96563" y="2011680"/>
            <a:ext cx="2316403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9443" y="2194560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9443" y="2834640"/>
            <a:ext cx="195064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知識庫 (Vault): 由 AI 助理完全維護的人物與事件筆記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58687" y="3840480"/>
            <a:ext cx="274320" cy="2286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2011680"/>
            <a:ext cx="2316403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2194560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834640"/>
            <a:ext cx="195064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目錄與日誌: 目錄提供頁面簡介，日誌記錄每次匯入資訊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40851" y="3840480"/>
            <a:ext cx="274320" cy="2286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0891" y="2011680"/>
            <a:ext cx="2316403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3771" y="2194560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771" y="2834640"/>
            <a:ext cx="195064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指導手冊 (CLAUDE/AGENTS): 告訴 AI 每個資料夾的用途與流程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四、AI 助理的工作流與自動化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011680"/>
            <a:ext cx="8534095" cy="274320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37744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800" b="1">
                <a:solidFill>
                  <a:srgbClr val="FFD700"/>
                </a:solidFill>
                <a:latin typeface="Arial"/>
              </a:defRPr>
            </a:pPr>
            <a:r>
              <a:t>四、AI 助理的工作流與自動化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74720"/>
            <a:ext cx="81683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藉由 Codex/Claude Code 實現知識庫維護與問答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AI 助理自動化工作流步驟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2316403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195064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自動監測: 每天定時檢查「史料」資料夾中是否有新文件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76523" y="3840480"/>
            <a:ext cx="274320" cy="2286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96563" y="2011680"/>
            <a:ext cx="2316403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9443" y="2194560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9443" y="2834640"/>
            <a:ext cx="195064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整合寫入: 自動在「知識庫」寫入筆記、套用範本、拉雙向連結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58687" y="3840480"/>
            <a:ext cx="274320" cy="2286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8727" y="2011680"/>
            <a:ext cx="2316403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2194560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2834640"/>
            <a:ext cx="195064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記錄目錄: 自動更新「日誌」與「目錄」，方便日後溯源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640851" y="3840480"/>
            <a:ext cx="274320" cy="22860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0891" y="2011680"/>
            <a:ext cx="2316403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3771" y="2194560"/>
            <a:ext cx="195064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600" b="1">
                <a:solidFill>
                  <a:srgbClr val="FFD7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771" y="2834640"/>
            <a:ext cx="1950643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定期維護: 每週自動檢查失效連結與重疊內容，清理冗餘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65760"/>
            <a:ext cx="137160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600" b="1">
                <a:solidFill>
                  <a:srgbClr val="FFD700"/>
                </a:solidFill>
                <a:latin typeface="Arial"/>
              </a:defRPr>
            </a:pPr>
            <a:r>
              <a:t>AI 助理的高階增值功能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488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智能知識問答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24688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根據目錄定位相關頁面，回答問題並精準標示引用來源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011680"/>
            <a:ext cx="320040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1488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網頁文章擷取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651760"/>
            <a:ext cx="24688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搭配 Web Clipper 插件一鍵將網路史料存入指定資料夾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00400" cy="4023360"/>
          </a:xfrm>
          <a:prstGeom prst="roundRect">
            <a:avLst/>
          </a:prstGeom>
          <a:solidFill>
            <a:srgbClr val="1E1E1E"/>
          </a:solidFill>
          <a:ln>
            <a:solidFill>
              <a:srgbClr val="2D2D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2240280"/>
            <a:ext cx="109728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14884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Arial"/>
              </a:defRPr>
            </a:pPr>
            <a:r>
              <a:t>互動圖表生成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51760"/>
            <a:ext cx="24688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請 AI 將筆記內容直接轉換為互動式 HTML 歷史時間軸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Wiki 與 Obsidian 實戰指南</dc:title>
  <dc:subject>AI 協同個人知識庫的建構方法</dc:subject>
  <dc:creator>Antigravity</dc:creator>
  <cp:keywords>Obsidian, LLM Wiki, AI Agent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